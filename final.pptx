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7"/>
  </p:notesMasterIdLst>
  <p:sldIdLst>
    <p:sldId id="256" r:id="rId2"/>
    <p:sldId id="305" r:id="rId3"/>
    <p:sldId id="257" r:id="rId4"/>
    <p:sldId id="317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</p:sldIdLst>
  <p:sldSz cx="9144000" cy="5143500" type="screen16x9"/>
  <p:notesSz cx="6858000" cy="9144000"/>
  <p:embeddedFontLst>
    <p:embeddedFont>
      <p:font typeface="Montserrat ExtraBold" panose="020B0604020202020204" charset="0"/>
      <p:bold r:id="rId18"/>
      <p:boldItalic r:id="rId19"/>
    </p:embeddedFont>
    <p:embeddedFont>
      <p:font typeface="Montserrat" panose="020B0604020202020204" charset="0"/>
      <p:regular r:id="rId20"/>
      <p:bold r:id="rId21"/>
      <p:italic r:id="rId22"/>
      <p:boldItalic r:id="rId23"/>
    </p:embeddedFont>
    <p:embeddedFont>
      <p:font typeface="Montserrat ExtraLigh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2BCB8F-4D0D-4548-A3CB-8649DF9881F1}">
  <a:tblStyle styleId="{7C2BCB8F-4D0D-4548-A3CB-8649DF9881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6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0844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182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700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17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MAHAKUMBH</a:t>
            </a:r>
            <a:endParaRPr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3943351" y="3050381"/>
            <a:ext cx="1299076" cy="383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IIIT-A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50" y="2624375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HACKATHON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D902F5-D982-921A-E096-660A38D25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14" y="2633840"/>
            <a:ext cx="8586786" cy="778669"/>
          </a:xfrm>
        </p:spPr>
        <p:txBody>
          <a:bodyPr>
            <a:noAutofit/>
          </a:bodyPr>
          <a:lstStyle/>
          <a:p>
            <a:r>
              <a:rPr lang="en-US" sz="2400" dirty="0" err="1"/>
              <a:t>KumbhNavigate</a:t>
            </a:r>
            <a:r>
              <a:rPr lang="en-US" sz="2400" dirty="0"/>
              <a:t> – </a:t>
            </a:r>
            <a:r>
              <a:rPr lang="en-US" sz="1800" dirty="0"/>
              <a:t>Seamlessly navigate the </a:t>
            </a:r>
            <a:r>
              <a:rPr lang="en-US" sz="1800" dirty="0" err="1"/>
              <a:t>Mahakumbh</a:t>
            </a:r>
            <a:r>
              <a:rPr lang="en-US" sz="1800" dirty="0"/>
              <a:t> </a:t>
            </a:r>
            <a:r>
              <a:rPr lang="en-US" sz="1800" dirty="0" err="1" smtClean="0"/>
              <a:t>Mela</a:t>
            </a:r>
            <a:r>
              <a:rPr lang="en-US" sz="1800" dirty="0" smtClean="0"/>
              <a:t>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6858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OBJECTVE</a:t>
            </a:r>
            <a:endParaRPr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1010653"/>
            <a:ext cx="7172100" cy="413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5575" indent="0">
              <a:buNone/>
            </a:pPr>
            <a:r>
              <a:rPr lang="en-US" sz="1800" b="1" dirty="0" smtClean="0"/>
              <a:t>Mission</a:t>
            </a:r>
            <a:endParaRPr lang="en-US" sz="18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Revolutionize the </a:t>
            </a:r>
            <a:r>
              <a:rPr lang="en-US" dirty="0" err="1"/>
              <a:t>Mahakumbh</a:t>
            </a:r>
            <a:r>
              <a:rPr lang="en-US" dirty="0"/>
              <a:t> </a:t>
            </a:r>
            <a:r>
              <a:rPr lang="en-US" dirty="0" err="1"/>
              <a:t>Mela</a:t>
            </a:r>
            <a:r>
              <a:rPr lang="en-US" dirty="0"/>
              <a:t> </a:t>
            </a:r>
            <a:r>
              <a:rPr lang="en-US" b="1" dirty="0">
                <a:solidFill>
                  <a:srgbClr val="FFFF00"/>
                </a:solidFill>
              </a:rPr>
              <a:t>experience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through innovative technology.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Foster seamless </a:t>
            </a:r>
            <a:r>
              <a:rPr lang="en-US" b="1" dirty="0">
                <a:solidFill>
                  <a:srgbClr val="FFFF00"/>
                </a:solidFill>
              </a:rPr>
              <a:t>navigation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smtClean="0"/>
              <a:t>with ease for </a:t>
            </a:r>
            <a:r>
              <a:rPr lang="en-US" dirty="0"/>
              <a:t>all attendees with a dynamic </a:t>
            </a:r>
            <a:r>
              <a:rPr lang="en-US" b="1" dirty="0">
                <a:solidFill>
                  <a:srgbClr val="FFFF00"/>
                </a:solidFill>
              </a:rPr>
              <a:t>mobile-first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website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Cater to diverse needs by ensuring access to </a:t>
            </a:r>
            <a:r>
              <a:rPr lang="en-US" b="1" dirty="0">
                <a:solidFill>
                  <a:srgbClr val="FFFF00"/>
                </a:solidFill>
              </a:rPr>
              <a:t>vital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information</a:t>
            </a:r>
            <a:r>
              <a:rPr lang="en-US" dirty="0"/>
              <a:t>, </a:t>
            </a:r>
            <a:r>
              <a:rPr lang="en-US" b="1" dirty="0">
                <a:solidFill>
                  <a:srgbClr val="FFFF00"/>
                </a:solidFill>
              </a:rPr>
              <a:t>services</a:t>
            </a:r>
            <a:r>
              <a:rPr lang="en-US" dirty="0"/>
              <a:t>, and </a:t>
            </a:r>
            <a:r>
              <a:rPr lang="en-US" b="1" dirty="0" smtClean="0">
                <a:solidFill>
                  <a:srgbClr val="FFFF00"/>
                </a:solidFill>
              </a:rPr>
              <a:t>facilities</a:t>
            </a:r>
            <a:r>
              <a:rPr lang="en-US" dirty="0" smtClean="0"/>
              <a:t> along </a:t>
            </a:r>
            <a:r>
              <a:rPr lang="en-US" b="1" dirty="0" smtClean="0">
                <a:solidFill>
                  <a:srgbClr val="FFFF00"/>
                </a:solidFill>
              </a:rPr>
              <a:t>emergency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b="1" dirty="0" smtClean="0">
                <a:solidFill>
                  <a:srgbClr val="FFFF00"/>
                </a:solidFill>
              </a:rPr>
              <a:t>needs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155575" indent="0">
              <a:buNone/>
            </a:pPr>
            <a:r>
              <a:rPr lang="en-US" sz="1800" b="1" dirty="0" smtClean="0"/>
              <a:t>Vision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Create a personalized and streamlined </a:t>
            </a:r>
            <a:r>
              <a:rPr lang="en-US" dirty="0" err="1"/>
              <a:t>Mela</a:t>
            </a:r>
            <a:r>
              <a:rPr lang="en-US" dirty="0"/>
              <a:t> journey for every participant.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Maximize attendee experience through </a:t>
            </a:r>
            <a:r>
              <a:rPr lang="en-US" b="1" dirty="0">
                <a:solidFill>
                  <a:srgbClr val="FFFF00"/>
                </a:solidFill>
              </a:rPr>
              <a:t>real-time updates </a:t>
            </a:r>
            <a:r>
              <a:rPr lang="en-US" dirty="0"/>
              <a:t>and </a:t>
            </a:r>
            <a:r>
              <a:rPr lang="en-US" b="1" dirty="0">
                <a:solidFill>
                  <a:srgbClr val="FFFF00"/>
                </a:solidFill>
              </a:rPr>
              <a:t>multilingual</a:t>
            </a:r>
            <a:r>
              <a:rPr lang="en-US" dirty="0"/>
              <a:t> support.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Redefine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engagement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by enhancing the traditional </a:t>
            </a:r>
            <a:r>
              <a:rPr lang="en-US" dirty="0" err="1"/>
              <a:t>Mela</a:t>
            </a:r>
            <a:r>
              <a:rPr lang="en-US" dirty="0"/>
              <a:t> experience with cutting-edge </a:t>
            </a:r>
            <a:r>
              <a:rPr lang="en-US" dirty="0" smtClean="0"/>
              <a:t>technology.</a:t>
            </a:r>
            <a:endParaRPr lang="en-US"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KEY FEATURES </a:t>
            </a:r>
            <a:endParaRPr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1115568"/>
            <a:ext cx="7172100" cy="40279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00" b="1" dirty="0">
                <a:solidFill>
                  <a:srgbClr val="FFFF00"/>
                </a:solidFill>
              </a:rPr>
              <a:t>Real-time navigation</a:t>
            </a:r>
            <a:r>
              <a:rPr lang="en-US" sz="1000" dirty="0"/>
              <a:t>: Navigate the bustling crowds of </a:t>
            </a:r>
            <a:r>
              <a:rPr lang="en-US" sz="1000" dirty="0" err="1"/>
              <a:t>Kumbh</a:t>
            </a:r>
            <a:r>
              <a:rPr lang="en-US" sz="1000" dirty="0"/>
              <a:t> </a:t>
            </a:r>
            <a:r>
              <a:rPr lang="en-US" sz="1000" dirty="0" err="1"/>
              <a:t>Mela</a:t>
            </a:r>
            <a:r>
              <a:rPr lang="en-US" sz="1000" dirty="0"/>
              <a:t> like a personal tour guide, right from your web browser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rgbClr val="FFFF00"/>
                </a:solidFill>
              </a:rPr>
              <a:t>Seamless web experience</a:t>
            </a:r>
            <a:r>
              <a:rPr lang="en-US" sz="1000" dirty="0"/>
              <a:t>: Access all features without the need for app downloads, making it effortless to find your way around the massive festival grounds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rgbClr val="FFFF00"/>
                </a:solidFill>
              </a:rPr>
              <a:t>Interactive maps</a:t>
            </a:r>
            <a:r>
              <a:rPr lang="en-US" sz="1000" dirty="0"/>
              <a:t>: Explore detailed maps of the </a:t>
            </a:r>
            <a:r>
              <a:rPr lang="en-US" sz="1000" dirty="0" err="1"/>
              <a:t>Kumbh</a:t>
            </a:r>
            <a:r>
              <a:rPr lang="en-US" sz="1000" dirty="0"/>
              <a:t> </a:t>
            </a:r>
            <a:r>
              <a:rPr lang="en-US" sz="1000" dirty="0" err="1"/>
              <a:t>Mela</a:t>
            </a:r>
            <a:r>
              <a:rPr lang="en-US" sz="1000" dirty="0"/>
              <a:t> site, with real-time updates on attractions, events, and facilities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rgbClr val="FFFF00"/>
                </a:solidFill>
              </a:rPr>
              <a:t>Customized routes</a:t>
            </a:r>
            <a:r>
              <a:rPr lang="en-US" sz="1000" dirty="0"/>
              <a:t>: Receive personalized navigation routes based on your preferences and interests, ensuring a tailored experience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rgbClr val="FFFF00"/>
                </a:solidFill>
              </a:rPr>
              <a:t>Emergency assistance: </a:t>
            </a:r>
            <a:r>
              <a:rPr lang="en-US" sz="1000" dirty="0"/>
              <a:t>Instant access to emergency features and resources, providing peace of mind during your visit to the sacred </a:t>
            </a:r>
            <a:r>
              <a:rPr lang="en-US" sz="1000" dirty="0" smtClean="0"/>
              <a:t>gathering , and connect to the authority.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rgbClr val="FFFF00"/>
                </a:solidFill>
              </a:rPr>
              <a:t>Multi-language support: </a:t>
            </a:r>
            <a:r>
              <a:rPr lang="en-US" sz="1000" dirty="0"/>
              <a:t>Enjoy navigation and assistance in multiple languages, accommodating the diverse attendees of the </a:t>
            </a:r>
            <a:r>
              <a:rPr lang="en-US" sz="1000" dirty="0" err="1"/>
              <a:t>Kumbh</a:t>
            </a:r>
            <a:r>
              <a:rPr lang="en-US" sz="1000" dirty="0"/>
              <a:t> </a:t>
            </a:r>
            <a:r>
              <a:rPr lang="en-US" sz="1000" dirty="0" err="1"/>
              <a:t>Mela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r>
              <a:rPr lang="en-US" sz="1000" b="1" dirty="0" smtClean="0">
                <a:solidFill>
                  <a:srgbClr val="FFFF00"/>
                </a:solidFill>
              </a:rPr>
              <a:t>Explore </a:t>
            </a:r>
            <a:r>
              <a:rPr lang="en-US" sz="1000" b="1" dirty="0" err="1">
                <a:solidFill>
                  <a:srgbClr val="FFFF00"/>
                </a:solidFill>
              </a:rPr>
              <a:t>Prayagraj</a:t>
            </a:r>
            <a:r>
              <a:rPr lang="en-US" sz="1000" dirty="0"/>
              <a:t>: Discover the wonders of </a:t>
            </a:r>
            <a:r>
              <a:rPr lang="en-US" sz="1000" dirty="0" err="1"/>
              <a:t>Prayagraj</a:t>
            </a:r>
            <a:r>
              <a:rPr lang="en-US" sz="1000" dirty="0"/>
              <a:t> beyond the </a:t>
            </a:r>
            <a:r>
              <a:rPr lang="en-US" sz="1000" dirty="0" err="1"/>
              <a:t>Kumbh</a:t>
            </a:r>
            <a:r>
              <a:rPr lang="en-US" sz="1000" dirty="0"/>
              <a:t> </a:t>
            </a:r>
            <a:r>
              <a:rPr lang="en-US" sz="1000" dirty="0" err="1"/>
              <a:t>Mela</a:t>
            </a:r>
            <a:r>
              <a:rPr lang="en-US" sz="1000" dirty="0"/>
              <a:t> grounds, with our website offering insights into the rich culture and heritage of the city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r>
              <a:rPr lang="en-US" sz="1000" b="1" dirty="0" smtClean="0">
                <a:solidFill>
                  <a:srgbClr val="FFFF00"/>
                </a:solidFill>
              </a:rPr>
              <a:t>Management efforts</a:t>
            </a:r>
            <a:r>
              <a:rPr lang="en-US" sz="1000" dirty="0" smtClean="0"/>
              <a:t> : </a:t>
            </a:r>
            <a:r>
              <a:rPr lang="en-US" sz="1000" b="1" dirty="0" err="1" smtClean="0">
                <a:solidFill>
                  <a:srgbClr val="FFFF00"/>
                </a:solidFill>
              </a:rPr>
              <a:t>Kumbhnavigate</a:t>
            </a:r>
            <a:r>
              <a:rPr lang="en-US" sz="1000" dirty="0" smtClean="0">
                <a:solidFill>
                  <a:srgbClr val="FFFF00"/>
                </a:solidFill>
              </a:rPr>
              <a:t> </a:t>
            </a:r>
            <a:r>
              <a:rPr lang="en-US" sz="1000" dirty="0" smtClean="0"/>
              <a:t>as </a:t>
            </a:r>
            <a:r>
              <a:rPr lang="en-US" sz="1000" dirty="0"/>
              <a:t>a comprehensive management tool, providing attendees with self-service access to event details, an interactive help desk for inquiries and assistance, and facilitating feedback collection for continuous improvement, thus </a:t>
            </a:r>
            <a:r>
              <a:rPr lang="en-US" sz="1000" b="1" dirty="0">
                <a:solidFill>
                  <a:srgbClr val="FFFF00"/>
                </a:solidFill>
              </a:rPr>
              <a:t>optimizing resource allocation </a:t>
            </a:r>
            <a:r>
              <a:rPr lang="en-US" sz="1000" dirty="0"/>
              <a:t>and </a:t>
            </a:r>
            <a:r>
              <a:rPr lang="en-US" sz="1000" b="1" dirty="0">
                <a:solidFill>
                  <a:srgbClr val="FFFF00"/>
                </a:solidFill>
              </a:rPr>
              <a:t>reducing reliance on on-site staff</a:t>
            </a:r>
            <a:endParaRPr lang="en-US" sz="1000" b="1" dirty="0">
              <a:solidFill>
                <a:srgbClr val="FFFF00"/>
              </a:solidFill>
            </a:endParaRPr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69893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500" y="1246024"/>
            <a:ext cx="7172100" cy="3831943"/>
          </a:xfrm>
        </p:spPr>
        <p:txBody>
          <a:bodyPr/>
          <a:lstStyle/>
          <a:p>
            <a:pPr marL="155575" indent="0">
              <a:buNone/>
            </a:pPr>
            <a:r>
              <a:rPr lang="en-US" sz="1200" b="1" dirty="0" smtClean="0"/>
              <a:t>Technology Required:</a:t>
            </a:r>
          </a:p>
          <a:p>
            <a:pPr marL="155575" indent="0">
              <a:buNone/>
            </a:pPr>
            <a:endParaRPr lang="en-US" sz="1200" dirty="0" smtClean="0"/>
          </a:p>
          <a:p>
            <a:r>
              <a:rPr lang="en-US" b="1" dirty="0" smtClean="0">
                <a:solidFill>
                  <a:srgbClr val="FFFF00"/>
                </a:solidFill>
              </a:rPr>
              <a:t>Frontend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: Our frontend is developed using </a:t>
            </a:r>
            <a:r>
              <a:rPr lang="en-US" b="1" dirty="0" err="1" smtClean="0">
                <a:solidFill>
                  <a:srgbClr val="FFFF00"/>
                </a:solidFill>
              </a:rPr>
              <a:t>Reactjs</a:t>
            </a:r>
            <a:r>
              <a:rPr lang="en-US" dirty="0" smtClean="0"/>
              <a:t>, a popular JavaScript library for building user interfaces. </a:t>
            </a:r>
            <a:r>
              <a:rPr lang="en-US" b="1" dirty="0" err="1" smtClean="0">
                <a:solidFill>
                  <a:srgbClr val="FFFF00"/>
                </a:solidFill>
              </a:rPr>
              <a:t>Reactjs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allows for the creation of </a:t>
            </a:r>
            <a:r>
              <a:rPr lang="en-US" b="1" dirty="0" smtClean="0">
                <a:solidFill>
                  <a:srgbClr val="FFFF00"/>
                </a:solidFill>
              </a:rPr>
              <a:t>interactive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FFFF00"/>
                </a:solidFill>
              </a:rPr>
              <a:t>responsive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web applications, providing a </a:t>
            </a:r>
            <a:r>
              <a:rPr lang="en-US" b="1" dirty="0" smtClean="0">
                <a:solidFill>
                  <a:srgbClr val="FFFF00"/>
                </a:solidFill>
              </a:rPr>
              <a:t>fast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FFFF00"/>
                </a:solidFill>
              </a:rPr>
              <a:t>efficient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rendering process.</a:t>
            </a:r>
          </a:p>
          <a:p>
            <a:pPr marL="155575" indent="0"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FFFF00"/>
                </a:solidFill>
              </a:rPr>
              <a:t>Backend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: The backend of our project will be made using </a:t>
            </a:r>
            <a:r>
              <a:rPr lang="en-US" b="1" dirty="0" err="1" smtClean="0">
                <a:solidFill>
                  <a:srgbClr val="FFFF00"/>
                </a:solidFill>
              </a:rPr>
              <a:t>Nodejs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rgbClr val="FFFF00"/>
                </a:solidFill>
              </a:rPr>
              <a:t>Expressjs</a:t>
            </a:r>
            <a:r>
              <a:rPr lang="en-US" dirty="0" smtClean="0"/>
              <a:t>, a lightweight and scalable JavaScript runtime environment. This robust backend stack allows us to handle server-side logic and manage data storage efficiently.</a:t>
            </a:r>
          </a:p>
          <a:p>
            <a:endParaRPr lang="en-US" dirty="0"/>
          </a:p>
          <a:p>
            <a:r>
              <a:rPr lang="en-US" b="1" dirty="0">
                <a:solidFill>
                  <a:srgbClr val="FFFF00"/>
                </a:solidFill>
              </a:rPr>
              <a:t>Mapping API: </a:t>
            </a:r>
            <a:r>
              <a:rPr lang="en-US" dirty="0"/>
              <a:t>Additionally, we will integrate </a:t>
            </a:r>
            <a:r>
              <a:rPr lang="en-US" b="1" dirty="0">
                <a:solidFill>
                  <a:srgbClr val="FFFF00"/>
                </a:solidFill>
              </a:rPr>
              <a:t>Maps API </a:t>
            </a:r>
            <a:r>
              <a:rPr lang="en-US" dirty="0"/>
              <a:t>to provide interactive maps and </a:t>
            </a:r>
            <a:r>
              <a:rPr lang="en-US" b="1" dirty="0">
                <a:solidFill>
                  <a:srgbClr val="FFFF00"/>
                </a:solidFill>
              </a:rPr>
              <a:t>real-time navigation </a:t>
            </a:r>
            <a:r>
              <a:rPr lang="en-US" dirty="0"/>
              <a:t>features, enhancing the user experience and facilitating </a:t>
            </a:r>
            <a:r>
              <a:rPr lang="en-US" b="1" dirty="0">
                <a:solidFill>
                  <a:srgbClr val="FFFF00"/>
                </a:solidFill>
              </a:rPr>
              <a:t>seamless exploration</a:t>
            </a:r>
            <a:r>
              <a:rPr lang="en-US" dirty="0"/>
              <a:t> of the </a:t>
            </a:r>
            <a:r>
              <a:rPr lang="en-US" dirty="0" err="1"/>
              <a:t>Kumbh</a:t>
            </a:r>
            <a:r>
              <a:rPr lang="en-US" dirty="0"/>
              <a:t> </a:t>
            </a:r>
            <a:r>
              <a:rPr lang="en-US" dirty="0" err="1"/>
              <a:t>Mela</a:t>
            </a:r>
            <a:r>
              <a:rPr lang="en-US" dirty="0"/>
              <a:t> grounds.</a:t>
            </a:r>
            <a:endParaRPr lang="en-US" dirty="0" smtClean="0"/>
          </a:p>
          <a:p>
            <a:pPr marL="155575" indent="0">
              <a:buNone/>
            </a:pPr>
            <a:r>
              <a:rPr lang="en-US" dirty="0" smtClean="0"/>
              <a:t>		</a:t>
            </a:r>
          </a:p>
          <a:p>
            <a:r>
              <a:rPr lang="en-US" b="1" dirty="0" smtClean="0">
                <a:solidFill>
                  <a:srgbClr val="FFFF00"/>
                </a:solidFill>
              </a:rPr>
              <a:t>Database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: For our database we will be using </a:t>
            </a:r>
            <a:r>
              <a:rPr lang="en-US" b="1" dirty="0" err="1" smtClean="0">
                <a:solidFill>
                  <a:srgbClr val="FFFF00"/>
                </a:solidFill>
              </a:rPr>
              <a:t>MongoDB</a:t>
            </a:r>
            <a:endParaRPr lang="en-US" b="1" dirty="0" smtClean="0">
              <a:solidFill>
                <a:srgbClr val="FFFF00"/>
              </a:solidFill>
            </a:endParaRPr>
          </a:p>
          <a:p>
            <a:pPr marL="155575" indent="0">
              <a:buNone/>
            </a:pPr>
            <a:endParaRPr lang="en-US" dirty="0" smtClean="0"/>
          </a:p>
          <a:p>
            <a:r>
              <a:rPr lang="en-US" dirty="0" smtClean="0"/>
              <a:t>Overall : A </a:t>
            </a:r>
            <a:r>
              <a:rPr lang="en-US" b="1" dirty="0" smtClean="0">
                <a:solidFill>
                  <a:srgbClr val="FFFF00"/>
                </a:solidFill>
              </a:rPr>
              <a:t>MERN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project</a:t>
            </a:r>
            <a:endParaRPr lang="en-IN" dirty="0" smtClean="0"/>
          </a:p>
          <a:p>
            <a:endParaRPr lang="en-IN" dirty="0"/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248771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EXPANDING ON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500" y="915725"/>
            <a:ext cx="7172100" cy="3831944"/>
          </a:xfrm>
        </p:spPr>
        <p:txBody>
          <a:bodyPr/>
          <a:lstStyle/>
          <a:p>
            <a:pPr marL="155575" indent="0">
              <a:buNone/>
            </a:pPr>
            <a:r>
              <a:rPr lang="en-US" sz="1200" b="1" dirty="0"/>
              <a:t>Workflow of the Model:</a:t>
            </a:r>
          </a:p>
          <a:p>
            <a:pPr marL="155575" indent="0">
              <a:buNone/>
            </a:pPr>
            <a:endParaRPr lang="en-US" sz="1200" b="1" dirty="0"/>
          </a:p>
          <a:p>
            <a:r>
              <a:rPr lang="en-US" sz="1100" b="1" dirty="0">
                <a:solidFill>
                  <a:srgbClr val="FFFF00"/>
                </a:solidFill>
              </a:rPr>
              <a:t>QR</a:t>
            </a:r>
            <a:r>
              <a:rPr lang="en-US" sz="1100" dirty="0"/>
              <a:t> </a:t>
            </a:r>
            <a:r>
              <a:rPr lang="en-US" sz="1100" b="1" dirty="0">
                <a:solidFill>
                  <a:srgbClr val="FFFF00"/>
                </a:solidFill>
              </a:rPr>
              <a:t>Code</a:t>
            </a:r>
            <a:r>
              <a:rPr lang="en-US" sz="1100" dirty="0">
                <a:solidFill>
                  <a:srgbClr val="FFFF00"/>
                </a:solidFill>
              </a:rPr>
              <a:t> </a:t>
            </a:r>
            <a:r>
              <a:rPr lang="en-US" sz="1100" b="1" dirty="0">
                <a:solidFill>
                  <a:srgbClr val="FFFF00"/>
                </a:solidFill>
              </a:rPr>
              <a:t>Feature</a:t>
            </a:r>
            <a:r>
              <a:rPr lang="en-US" sz="1100" dirty="0"/>
              <a:t>: Attendees can scan QR codes placed strategically throughout the Mela grounds to access </a:t>
            </a:r>
            <a:r>
              <a:rPr lang="en-US" sz="1100" b="1" dirty="0">
                <a:solidFill>
                  <a:srgbClr val="FFFF00"/>
                </a:solidFill>
              </a:rPr>
              <a:t>real-time information </a:t>
            </a:r>
            <a:r>
              <a:rPr lang="en-US" sz="1100" dirty="0"/>
              <a:t>about nearby facilities, events, and services.</a:t>
            </a:r>
          </a:p>
          <a:p>
            <a:pPr marL="155575" indent="0">
              <a:buNone/>
            </a:pPr>
            <a:endParaRPr lang="en-US" sz="1100" dirty="0"/>
          </a:p>
          <a:p>
            <a:r>
              <a:rPr lang="en-US" sz="1100" b="1" dirty="0">
                <a:solidFill>
                  <a:srgbClr val="FFFF00"/>
                </a:solidFill>
              </a:rPr>
              <a:t>Multilingual Support</a:t>
            </a:r>
            <a:r>
              <a:rPr lang="en-US" sz="1100" dirty="0"/>
              <a:t>: Our platform offers </a:t>
            </a:r>
            <a:r>
              <a:rPr lang="en-US" sz="1100" b="1" dirty="0">
                <a:solidFill>
                  <a:srgbClr val="FFFF00"/>
                </a:solidFill>
              </a:rPr>
              <a:t>multilingual</a:t>
            </a:r>
            <a:r>
              <a:rPr lang="en-US" sz="1100" dirty="0"/>
              <a:t> support, allowing attendees to access information in their preferred language, thus </a:t>
            </a:r>
            <a:r>
              <a:rPr lang="en-US" sz="1100" b="1" dirty="0">
                <a:solidFill>
                  <a:srgbClr val="FFFF00"/>
                </a:solidFill>
              </a:rPr>
              <a:t>fostering</a:t>
            </a:r>
            <a:r>
              <a:rPr lang="en-US" sz="1100" dirty="0">
                <a:solidFill>
                  <a:srgbClr val="FFFF00"/>
                </a:solidFill>
              </a:rPr>
              <a:t> </a:t>
            </a:r>
            <a:r>
              <a:rPr lang="en-US" sz="1100" b="1" dirty="0">
                <a:solidFill>
                  <a:srgbClr val="FFFF00"/>
                </a:solidFill>
              </a:rPr>
              <a:t>inclusivity</a:t>
            </a:r>
            <a:r>
              <a:rPr lang="en-US" sz="1100" dirty="0">
                <a:solidFill>
                  <a:srgbClr val="FFFF00"/>
                </a:solidFill>
              </a:rPr>
              <a:t> </a:t>
            </a:r>
            <a:r>
              <a:rPr lang="en-US" sz="1100" dirty="0"/>
              <a:t>and </a:t>
            </a:r>
            <a:r>
              <a:rPr lang="en-US" sz="1100" b="1" dirty="0">
                <a:solidFill>
                  <a:srgbClr val="FFFF00"/>
                </a:solidFill>
              </a:rPr>
              <a:t>accessibility</a:t>
            </a:r>
            <a:r>
              <a:rPr lang="en-US" sz="1100" dirty="0"/>
              <a:t>.</a:t>
            </a:r>
          </a:p>
          <a:p>
            <a:pPr marL="155575" indent="0">
              <a:buNone/>
            </a:pPr>
            <a:endParaRPr lang="en-US" sz="1100" dirty="0"/>
          </a:p>
          <a:p>
            <a:r>
              <a:rPr lang="en-US" sz="1100" b="1" dirty="0" smtClean="0">
                <a:solidFill>
                  <a:srgbClr val="FFFF00"/>
                </a:solidFill>
              </a:rPr>
              <a:t>Browsing Feature</a:t>
            </a:r>
            <a:r>
              <a:rPr lang="en-US" sz="1100" dirty="0"/>
              <a:t>: Attendees can seamlessly </a:t>
            </a:r>
            <a:r>
              <a:rPr lang="en-US" sz="1100" b="1" dirty="0" smtClean="0">
                <a:solidFill>
                  <a:srgbClr val="FFFF00"/>
                </a:solidFill>
              </a:rPr>
              <a:t>browse</a:t>
            </a:r>
            <a:r>
              <a:rPr lang="en-US" sz="1100" dirty="0" smtClean="0">
                <a:solidFill>
                  <a:srgbClr val="FFFF00"/>
                </a:solidFill>
              </a:rPr>
              <a:t> </a:t>
            </a:r>
            <a:r>
              <a:rPr lang="en-US" sz="1100" b="1" dirty="0" smtClean="0">
                <a:solidFill>
                  <a:srgbClr val="FFFF00"/>
                </a:solidFill>
              </a:rPr>
              <a:t>accommodations</a:t>
            </a:r>
            <a:r>
              <a:rPr lang="en-US" sz="1100" dirty="0"/>
              <a:t>, </a:t>
            </a:r>
            <a:r>
              <a:rPr lang="en-US" sz="1100" b="1" dirty="0">
                <a:solidFill>
                  <a:srgbClr val="FFFF00"/>
                </a:solidFill>
              </a:rPr>
              <a:t>browse</a:t>
            </a:r>
            <a:r>
              <a:rPr lang="en-US" sz="1100" dirty="0">
                <a:solidFill>
                  <a:srgbClr val="FFFF00"/>
                </a:solidFill>
              </a:rPr>
              <a:t> </a:t>
            </a:r>
            <a:r>
              <a:rPr lang="en-US" sz="1100" b="1" dirty="0">
                <a:solidFill>
                  <a:srgbClr val="FFFF00"/>
                </a:solidFill>
              </a:rPr>
              <a:t>local</a:t>
            </a:r>
            <a:r>
              <a:rPr lang="en-US" sz="1100" dirty="0"/>
              <a:t> </a:t>
            </a:r>
            <a:r>
              <a:rPr lang="en-US" sz="1100" b="1" dirty="0">
                <a:solidFill>
                  <a:srgbClr val="FFFF00"/>
                </a:solidFill>
              </a:rPr>
              <a:t>stays</a:t>
            </a:r>
            <a:r>
              <a:rPr lang="en-US" sz="1100" dirty="0"/>
              <a:t>, and </a:t>
            </a:r>
            <a:r>
              <a:rPr lang="en-US" sz="1100" b="1" dirty="0">
                <a:solidFill>
                  <a:srgbClr val="FFFF00"/>
                </a:solidFill>
              </a:rPr>
              <a:t>avail</a:t>
            </a:r>
            <a:r>
              <a:rPr lang="en-US" sz="1100" dirty="0">
                <a:solidFill>
                  <a:srgbClr val="FFFF00"/>
                </a:solidFill>
              </a:rPr>
              <a:t> </a:t>
            </a:r>
            <a:r>
              <a:rPr lang="en-US" sz="1100" b="1" dirty="0">
                <a:solidFill>
                  <a:srgbClr val="FFFF00"/>
                </a:solidFill>
              </a:rPr>
              <a:t>discounts</a:t>
            </a:r>
            <a:r>
              <a:rPr lang="en-US" sz="1100" dirty="0"/>
              <a:t>, streamlining the planning process and </a:t>
            </a:r>
            <a:r>
              <a:rPr lang="en-US" sz="1100" b="1" dirty="0">
                <a:solidFill>
                  <a:srgbClr val="FFFF00"/>
                </a:solidFill>
              </a:rPr>
              <a:t>enhancing</a:t>
            </a:r>
            <a:r>
              <a:rPr lang="en-US" sz="1100" dirty="0">
                <a:solidFill>
                  <a:srgbClr val="FFFF00"/>
                </a:solidFill>
              </a:rPr>
              <a:t> </a:t>
            </a:r>
            <a:r>
              <a:rPr lang="en-US" sz="1100" b="1" dirty="0">
                <a:solidFill>
                  <a:srgbClr val="FFFF00"/>
                </a:solidFill>
              </a:rPr>
              <a:t>convenience</a:t>
            </a:r>
            <a:r>
              <a:rPr lang="en-US" sz="1100" dirty="0" smtClean="0"/>
              <a:t>.</a:t>
            </a:r>
          </a:p>
          <a:p>
            <a:pPr marL="155575" indent="0">
              <a:buNone/>
            </a:pPr>
            <a:endParaRPr lang="en-US" sz="1100" dirty="0"/>
          </a:p>
          <a:p>
            <a:r>
              <a:rPr lang="en-US" sz="1100" b="1" dirty="0">
                <a:solidFill>
                  <a:srgbClr val="FFFF00"/>
                </a:solidFill>
              </a:rPr>
              <a:t>Real-time Updates</a:t>
            </a:r>
            <a:r>
              <a:rPr lang="en-US" sz="1100" dirty="0"/>
              <a:t>: The dynamic nature of our platform </a:t>
            </a:r>
            <a:r>
              <a:rPr lang="en-US" sz="1100" b="1" dirty="0">
                <a:solidFill>
                  <a:srgbClr val="FFFF00"/>
                </a:solidFill>
              </a:rPr>
              <a:t>ensures real-time updates </a:t>
            </a:r>
            <a:r>
              <a:rPr lang="en-US" sz="1100" dirty="0"/>
              <a:t>on event </a:t>
            </a:r>
            <a:r>
              <a:rPr lang="en-US" sz="1100" b="1" dirty="0">
                <a:solidFill>
                  <a:srgbClr val="FFFF00"/>
                </a:solidFill>
              </a:rPr>
              <a:t>schedules</a:t>
            </a:r>
            <a:r>
              <a:rPr lang="en-US" sz="1100" dirty="0"/>
              <a:t>, </a:t>
            </a:r>
            <a:r>
              <a:rPr lang="en-US" sz="1100" b="1" dirty="0">
                <a:solidFill>
                  <a:srgbClr val="FFFF00"/>
                </a:solidFill>
              </a:rPr>
              <a:t>emergency notifications</a:t>
            </a:r>
            <a:r>
              <a:rPr lang="en-US" sz="1100" dirty="0"/>
              <a:t>, and special announcements, keeping </a:t>
            </a:r>
            <a:r>
              <a:rPr lang="en-US" sz="1100" b="1" dirty="0">
                <a:solidFill>
                  <a:srgbClr val="FFFF00"/>
                </a:solidFill>
              </a:rPr>
              <a:t>attendees informed </a:t>
            </a:r>
            <a:r>
              <a:rPr lang="en-US" sz="1100" dirty="0"/>
              <a:t>and </a:t>
            </a:r>
            <a:r>
              <a:rPr lang="en-US" sz="1100" dirty="0" smtClean="0"/>
              <a:t>engaged along with </a:t>
            </a:r>
            <a:r>
              <a:rPr lang="en-US" sz="1100" b="1" dirty="0" smtClean="0">
                <a:solidFill>
                  <a:srgbClr val="FFFF00"/>
                </a:solidFill>
              </a:rPr>
              <a:t>emergency contact </a:t>
            </a:r>
            <a:r>
              <a:rPr lang="en-US" sz="1100" dirty="0" smtClean="0"/>
              <a:t>and </a:t>
            </a:r>
            <a:r>
              <a:rPr lang="en-US" sz="1100" b="1" dirty="0" smtClean="0">
                <a:solidFill>
                  <a:srgbClr val="FFFF00"/>
                </a:solidFill>
              </a:rPr>
              <a:t>alert</a:t>
            </a:r>
            <a:r>
              <a:rPr lang="en-US" sz="1100" dirty="0" smtClean="0">
                <a:solidFill>
                  <a:srgbClr val="FFFF00"/>
                </a:solidFill>
              </a:rPr>
              <a:t> </a:t>
            </a:r>
            <a:r>
              <a:rPr lang="en-US" sz="1100" dirty="0" smtClean="0"/>
              <a:t>sending services to the management</a:t>
            </a:r>
            <a:r>
              <a:rPr lang="en-US" sz="1100" dirty="0" smtClean="0"/>
              <a:t>.</a:t>
            </a:r>
          </a:p>
          <a:p>
            <a:endParaRPr lang="en-US" sz="1100" b="1" dirty="0"/>
          </a:p>
          <a:p>
            <a:r>
              <a:rPr lang="en-US" sz="1100" b="1" dirty="0" smtClean="0">
                <a:solidFill>
                  <a:srgbClr val="FFFF00"/>
                </a:solidFill>
              </a:rPr>
              <a:t>Mapping and Real-time Navigation: </a:t>
            </a:r>
            <a:r>
              <a:rPr lang="en-US" sz="1100" dirty="0" smtClean="0"/>
              <a:t>Integrated with map APIs, it provides mapping and real-time navigation features. Attendees can search for </a:t>
            </a:r>
            <a:r>
              <a:rPr lang="en-US" sz="1100" b="1" dirty="0" smtClean="0">
                <a:solidFill>
                  <a:srgbClr val="FFFF00"/>
                </a:solidFill>
              </a:rPr>
              <a:t>specific places within the </a:t>
            </a:r>
            <a:r>
              <a:rPr lang="en-US" sz="1100" b="1" dirty="0" err="1" smtClean="0">
                <a:solidFill>
                  <a:srgbClr val="FFFF00"/>
                </a:solidFill>
              </a:rPr>
              <a:t>Mela</a:t>
            </a:r>
            <a:r>
              <a:rPr lang="en-US" sz="1100" b="1" dirty="0" smtClean="0">
                <a:solidFill>
                  <a:srgbClr val="FFFF00"/>
                </a:solidFill>
              </a:rPr>
              <a:t> </a:t>
            </a:r>
            <a:r>
              <a:rPr lang="en-US" sz="1100" dirty="0" smtClean="0"/>
              <a:t>grounds and receive </a:t>
            </a:r>
            <a:r>
              <a:rPr lang="en-US" sz="1100" b="1" dirty="0" smtClean="0">
                <a:solidFill>
                  <a:srgbClr val="FFFF00"/>
                </a:solidFill>
              </a:rPr>
              <a:t>step-by-step navigation </a:t>
            </a:r>
            <a:r>
              <a:rPr lang="en-US" sz="1100" dirty="0" smtClean="0"/>
              <a:t>instructions to reach their desired destinations efficiently. This feature enhances convenience and helps attendees explore the </a:t>
            </a:r>
            <a:r>
              <a:rPr lang="en-US" sz="1100" b="1" dirty="0" smtClean="0">
                <a:solidFill>
                  <a:srgbClr val="FFFF00"/>
                </a:solidFill>
              </a:rPr>
              <a:t>event with ease</a:t>
            </a:r>
            <a:r>
              <a:rPr lang="en-US" sz="1100" dirty="0" smtClean="0"/>
              <a:t>.</a:t>
            </a:r>
            <a:endParaRPr lang="en-US" sz="1200" b="1" dirty="0" smtClean="0"/>
          </a:p>
          <a:p>
            <a:endParaRPr lang="en-US" sz="1200" dirty="0"/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7173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EXPANDING ON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500" y="1246025"/>
            <a:ext cx="7172100" cy="2934089"/>
          </a:xfrm>
        </p:spPr>
        <p:txBody>
          <a:bodyPr/>
          <a:lstStyle/>
          <a:p>
            <a:pPr marL="155575" indent="0">
              <a:buNone/>
            </a:pPr>
            <a:r>
              <a:rPr lang="en-US" sz="1200" b="1" dirty="0"/>
              <a:t>Model Matching with the Theme:</a:t>
            </a:r>
          </a:p>
          <a:p>
            <a:pPr marL="155575" indent="0">
              <a:buNone/>
            </a:pPr>
            <a:endParaRPr lang="en-US" sz="1200" b="1" dirty="0"/>
          </a:p>
          <a:p>
            <a:r>
              <a:rPr lang="en-US" sz="1200" dirty="0"/>
              <a:t>Our model aligns perfectly with the </a:t>
            </a:r>
            <a:r>
              <a:rPr lang="en-US" sz="1200" b="1" dirty="0">
                <a:solidFill>
                  <a:srgbClr val="FFFF00"/>
                </a:solidFill>
              </a:rPr>
              <a:t>theme of service level benchmarking for assets, inventory, facilities, and utilities monitoring and management</a:t>
            </a:r>
            <a:r>
              <a:rPr lang="en-US" sz="1200" dirty="0">
                <a:solidFill>
                  <a:srgbClr val="FFFF00"/>
                </a:solidFill>
              </a:rPr>
              <a:t>. </a:t>
            </a:r>
            <a:r>
              <a:rPr lang="en-US" sz="1200" dirty="0"/>
              <a:t>By providing real-time information and efficient management of event resources, our platform ensures that attendees have access to high-quality services and facilities, thus enhancing their overall Mela experience.</a:t>
            </a:r>
          </a:p>
          <a:p>
            <a:pPr marL="155575" indent="0">
              <a:buNone/>
            </a:pPr>
            <a:endParaRPr lang="en-US" sz="1200" dirty="0"/>
          </a:p>
          <a:p>
            <a:pPr marL="155575" indent="0">
              <a:buNone/>
            </a:pPr>
            <a:r>
              <a:rPr lang="en-US" sz="1200" b="1" dirty="0"/>
              <a:t>Advantage of the Model:</a:t>
            </a:r>
          </a:p>
          <a:p>
            <a:pPr marL="155575" indent="0">
              <a:buNone/>
            </a:pPr>
            <a:endParaRPr lang="en-US" sz="1200" b="1" dirty="0"/>
          </a:p>
          <a:p>
            <a:r>
              <a:rPr lang="en-US" sz="1200" dirty="0"/>
              <a:t>Streamlined Information Access: Attendees can easily access essential information, </a:t>
            </a:r>
            <a:r>
              <a:rPr lang="en-US" sz="1200" b="1" dirty="0">
                <a:solidFill>
                  <a:srgbClr val="FFFF00"/>
                </a:solidFill>
              </a:rPr>
              <a:t>services</a:t>
            </a:r>
            <a:r>
              <a:rPr lang="en-US" sz="1200" dirty="0"/>
              <a:t>, and </a:t>
            </a:r>
            <a:r>
              <a:rPr lang="en-US" sz="1200" b="1" dirty="0">
                <a:solidFill>
                  <a:srgbClr val="FFFF00"/>
                </a:solidFill>
              </a:rPr>
              <a:t>facilities</a:t>
            </a:r>
            <a:r>
              <a:rPr lang="en-US" sz="1200" dirty="0"/>
              <a:t>, leading to a smoother and more </a:t>
            </a:r>
            <a:r>
              <a:rPr lang="en-US" sz="1200" b="1" dirty="0">
                <a:solidFill>
                  <a:srgbClr val="FFFF00"/>
                </a:solidFill>
              </a:rPr>
              <a:t>enjoyable Mela experience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Multilingual Support: Our platform fosters inclusivity by providing information in </a:t>
            </a:r>
            <a:r>
              <a:rPr lang="en-US" sz="1200" b="1" dirty="0">
                <a:solidFill>
                  <a:srgbClr val="FFFF00"/>
                </a:solidFill>
              </a:rPr>
              <a:t>multiple languages</a:t>
            </a:r>
            <a:r>
              <a:rPr lang="en-US" sz="1200" dirty="0"/>
              <a:t>, catering to the diverse demographic of </a:t>
            </a:r>
            <a:r>
              <a:rPr lang="en-US" sz="1200" b="1" dirty="0">
                <a:solidFill>
                  <a:srgbClr val="FFFF00"/>
                </a:solidFill>
              </a:rPr>
              <a:t>Mela attendees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Efficient Management: The </a:t>
            </a:r>
            <a:r>
              <a:rPr lang="en-US" sz="1200" b="1" dirty="0">
                <a:solidFill>
                  <a:srgbClr val="FFFF00"/>
                </a:solidFill>
              </a:rPr>
              <a:t>real-time updates </a:t>
            </a:r>
            <a:r>
              <a:rPr lang="en-US" sz="1200" dirty="0" smtClean="0"/>
              <a:t>about </a:t>
            </a:r>
            <a:r>
              <a:rPr lang="en-US" sz="1200" b="1" dirty="0" smtClean="0">
                <a:solidFill>
                  <a:srgbClr val="FFFF00"/>
                </a:solidFill>
              </a:rPr>
              <a:t>resources</a:t>
            </a:r>
            <a:r>
              <a:rPr lang="en-US" sz="1200" dirty="0" smtClean="0">
                <a:solidFill>
                  <a:srgbClr val="FFFF00"/>
                </a:solidFill>
              </a:rPr>
              <a:t> </a:t>
            </a:r>
            <a:r>
              <a:rPr lang="en-US" sz="1200" dirty="0" smtClean="0"/>
              <a:t>and facilities enables efficient </a:t>
            </a:r>
            <a:r>
              <a:rPr lang="en-US" sz="1200" dirty="0"/>
              <a:t>management of event resources, ensuring optimal utilization and enhancing attendee satisfaction.</a:t>
            </a:r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96701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99" y="445025"/>
            <a:ext cx="6240969" cy="941400"/>
          </a:xfrm>
        </p:spPr>
        <p:txBody>
          <a:bodyPr/>
          <a:lstStyle/>
          <a:p>
            <a:r>
              <a:rPr lang="en-IN" dirty="0"/>
              <a:t>POSSIBILITY OF IMPLEMENTATION CONSIDERING THE MASSIVE CROWD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r>
              <a:rPr lang="en-US" sz="1200" dirty="0">
                <a:solidFill>
                  <a:schemeClr val="bg1"/>
                </a:solidFill>
              </a:rPr>
              <a:t>Implementing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n-US" sz="1200" dirty="0"/>
              <a:t>our </a:t>
            </a:r>
            <a:r>
              <a:rPr lang="en-US" sz="1200" dirty="0">
                <a:solidFill>
                  <a:schemeClr val="bg1"/>
                </a:solidFill>
              </a:rPr>
              <a:t>solution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n-US" sz="1200" dirty="0"/>
              <a:t>for a massive crowd at the </a:t>
            </a:r>
            <a:r>
              <a:rPr lang="en-US" sz="1200" dirty="0" err="1"/>
              <a:t>Mahakumbh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00"/>
                </a:solidFill>
              </a:rPr>
              <a:t>Mela requires meticulous planning, robust infrastructure, and scalable technologies. </a:t>
            </a:r>
            <a:r>
              <a:rPr lang="en-US" sz="1200" dirty="0"/>
              <a:t>With careful consideration of the event's scale and complexity, we have designed our platform to accommodate the </a:t>
            </a:r>
            <a:r>
              <a:rPr lang="en-US" sz="1200" b="1" dirty="0">
                <a:solidFill>
                  <a:srgbClr val="FFFF00"/>
                </a:solidFill>
              </a:rPr>
              <a:t>diverse needs of a large number of attendees </a:t>
            </a:r>
            <a:r>
              <a:rPr lang="en-US" sz="1200" dirty="0"/>
              <a:t>while ensuring seamless </a:t>
            </a:r>
            <a:r>
              <a:rPr lang="en-US" sz="1100" b="1" dirty="0">
                <a:solidFill>
                  <a:srgbClr val="FFFF00"/>
                </a:solidFill>
              </a:rPr>
              <a:t>performance</a:t>
            </a:r>
            <a:r>
              <a:rPr lang="en-US" sz="1100" dirty="0">
                <a:solidFill>
                  <a:srgbClr val="FFFF00"/>
                </a:solidFill>
              </a:rPr>
              <a:t>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FFFF00"/>
                </a:solidFill>
              </a:rPr>
              <a:t>reliability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Our scalable architecture and optimized backend infrastructure are specifically </a:t>
            </a:r>
            <a:r>
              <a:rPr lang="en-US" sz="1200" b="1" dirty="0">
                <a:solidFill>
                  <a:srgbClr val="FFFF00"/>
                </a:solidFill>
              </a:rPr>
              <a:t>engineered to handle high traffic loads and simultaneous user interactions</a:t>
            </a:r>
            <a:r>
              <a:rPr lang="en-US" sz="1200" dirty="0"/>
              <a:t>. By leveraging cloud-based technologies and distributed computing resources, we can dynamically allocate resources based on demand, ensuring that our platform remains </a:t>
            </a:r>
            <a:r>
              <a:rPr lang="en-US" sz="1200" b="1" dirty="0">
                <a:solidFill>
                  <a:srgbClr val="FFFF00"/>
                </a:solidFill>
              </a:rPr>
              <a:t>responsive</a:t>
            </a:r>
            <a:r>
              <a:rPr lang="en-US" sz="1200" dirty="0"/>
              <a:t> and available even </a:t>
            </a:r>
            <a:r>
              <a:rPr lang="en-US" sz="1200" b="1" dirty="0">
                <a:solidFill>
                  <a:srgbClr val="FFFF00"/>
                </a:solidFill>
              </a:rPr>
              <a:t>during peak periods of activity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Furthermore, our extensive testing procedures and performance optimization strategies enable us to identify and mitigate potential bottlenecks or performance issues proactively. With a dedicated team of experts overseeing the implementation process, we are confident in our ability to deliver </a:t>
            </a:r>
            <a:r>
              <a:rPr lang="en-US" sz="1200" b="1" dirty="0">
                <a:solidFill>
                  <a:srgbClr val="FFFF00"/>
                </a:solidFill>
              </a:rPr>
              <a:t>a robust and scalable solution that can effectively cater to the needs of the massive crowd expected at the </a:t>
            </a:r>
            <a:r>
              <a:rPr lang="en-US" sz="1200" b="1" dirty="0" err="1">
                <a:solidFill>
                  <a:srgbClr val="FFFF00"/>
                </a:solidFill>
              </a:rPr>
              <a:t>Mahakumbh</a:t>
            </a:r>
            <a:r>
              <a:rPr lang="en-US" sz="1200" b="1" dirty="0">
                <a:solidFill>
                  <a:srgbClr val="FFFF00"/>
                </a:solidFill>
              </a:rPr>
              <a:t> Mela.</a:t>
            </a:r>
          </a:p>
          <a:p>
            <a:pPr marL="155575" indent="0">
              <a:buNone/>
            </a:pPr>
            <a:endParaRPr lang="en-US" sz="1200" dirty="0"/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184675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EXPERTISE WITH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5575" indent="0">
              <a:buNone/>
            </a:pP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Charmy Patel – Mentor (Faculty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155575" indent="0">
              <a:buNone/>
            </a:pP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r>
              <a:rPr lang="en-US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Shubham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Danecha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Lead 1 , Frontend developer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r>
              <a:rPr lang="en-US" sz="1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1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Sathwara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Team Lead 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2 , 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 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developer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r>
              <a:rPr lang="en-US" sz="1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Chirag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Goswami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Frontend developer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Kashish </a:t>
            </a:r>
            <a:r>
              <a:rPr lang="en-US" sz="1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Dalal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UI/UX &amp; </a:t>
            </a: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designer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Yash Tiwari – Documentation Asst. Backend developer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5575" indent="0">
              <a:buNone/>
            </a:pPr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Parth Patel – Asst. Frontend developer</a:t>
            </a:r>
            <a:endParaRPr 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508823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00" y="445025"/>
            <a:ext cx="5912356" cy="941400"/>
          </a:xfrm>
        </p:spPr>
        <p:txBody>
          <a:bodyPr/>
          <a:lstStyle/>
          <a:p>
            <a:r>
              <a:rPr lang="en-IN" dirty="0"/>
              <a:t>IMPLEMENTATION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5575" indent="0">
              <a:buNone/>
            </a:pPr>
            <a:r>
              <a:rPr lang="en-US" sz="1200" b="1" dirty="0"/>
              <a:t>Infrastructure:</a:t>
            </a:r>
          </a:p>
          <a:p>
            <a:pPr marL="155575" indent="0">
              <a:buNone/>
            </a:pPr>
            <a:endParaRPr lang="en-US" sz="1200" b="1" dirty="0"/>
          </a:p>
          <a:p>
            <a:r>
              <a:rPr lang="en-US" sz="1200" dirty="0"/>
              <a:t>Scalable Hosting: Utilizing </a:t>
            </a:r>
            <a:r>
              <a:rPr lang="en-US" sz="1200" b="1" dirty="0">
                <a:solidFill>
                  <a:srgbClr val="FFFF00"/>
                </a:solidFill>
              </a:rPr>
              <a:t>cloud-based hosting </a:t>
            </a:r>
            <a:r>
              <a:rPr lang="en-US" sz="1200" dirty="0"/>
              <a:t>solutions such as </a:t>
            </a:r>
            <a:r>
              <a:rPr lang="en-US" sz="1200" b="1" dirty="0">
                <a:solidFill>
                  <a:srgbClr val="FFFF00"/>
                </a:solidFill>
              </a:rPr>
              <a:t>AWS (Amazon Web </a:t>
            </a:r>
            <a:r>
              <a:rPr lang="en-US" sz="1200" b="1" dirty="0" smtClean="0">
                <a:solidFill>
                  <a:srgbClr val="FFFF00"/>
                </a:solidFill>
              </a:rPr>
              <a:t>Services)</a:t>
            </a:r>
            <a:r>
              <a:rPr lang="en-US" sz="1200" dirty="0" smtClean="0"/>
              <a:t> </a:t>
            </a:r>
            <a:r>
              <a:rPr lang="en-US" sz="1200" dirty="0"/>
              <a:t>or Azure to ensuring scalability and reliability, accommodating fluctuations in traffic during the event </a:t>
            </a:r>
            <a:r>
              <a:rPr lang="en-US" sz="1200" dirty="0" smtClean="0"/>
              <a:t>(</a:t>
            </a:r>
            <a:r>
              <a:rPr lang="en-US" sz="1200" b="1" dirty="0" smtClean="0">
                <a:solidFill>
                  <a:srgbClr val="FFFF00"/>
                </a:solidFill>
              </a:rPr>
              <a:t>IF IMPLEMENTED</a:t>
            </a:r>
            <a:r>
              <a:rPr lang="en-US" sz="1200" dirty="0" smtClean="0"/>
              <a:t>).</a:t>
            </a:r>
            <a:endParaRPr lang="en-US" sz="1200" dirty="0"/>
          </a:p>
          <a:p>
            <a:pPr marL="155575" indent="0">
              <a:buNone/>
            </a:pPr>
            <a:endParaRPr lang="en-US" sz="1200" dirty="0"/>
          </a:p>
          <a:p>
            <a:pPr marL="155575" indent="0">
              <a:buNone/>
            </a:pPr>
            <a:r>
              <a:rPr lang="en-US" sz="1200" b="1" dirty="0"/>
              <a:t>Development Environment:</a:t>
            </a:r>
          </a:p>
          <a:p>
            <a:pPr marL="155575" indent="0">
              <a:buNone/>
            </a:pPr>
            <a:endParaRPr lang="en-US" sz="1200" b="1" dirty="0"/>
          </a:p>
          <a:p>
            <a:r>
              <a:rPr lang="en-US" sz="1200" dirty="0"/>
              <a:t>Development Tools: </a:t>
            </a:r>
            <a:r>
              <a:rPr lang="en-US" sz="1200" dirty="0" smtClean="0"/>
              <a:t>Utilized </a:t>
            </a:r>
            <a:r>
              <a:rPr lang="en-US" sz="1200" dirty="0"/>
              <a:t>modern development tools and IDEs (Integrated Development Environments) such as Visual Studio Code </a:t>
            </a:r>
            <a:r>
              <a:rPr lang="en-US" sz="1200" dirty="0" smtClean="0"/>
              <a:t>for </a:t>
            </a:r>
            <a:r>
              <a:rPr lang="en-US" sz="1200" b="1" dirty="0">
                <a:solidFill>
                  <a:srgbClr val="FFFF00"/>
                </a:solidFill>
              </a:rPr>
              <a:t>efficient code development and collaboration</a:t>
            </a:r>
            <a:r>
              <a:rPr lang="en-US" sz="1200" dirty="0"/>
              <a:t>.</a:t>
            </a:r>
          </a:p>
          <a:p>
            <a:pPr marL="155575" indent="0">
              <a:buNone/>
            </a:pPr>
            <a:endParaRPr lang="en-US" sz="1200" dirty="0"/>
          </a:p>
          <a:p>
            <a:r>
              <a:rPr lang="en-US" sz="1200" dirty="0"/>
              <a:t>Version Control: Implement a version control system such as Git to manage code changes, facilitate collaboration among team members, and ensure code integrity.</a:t>
            </a:r>
          </a:p>
          <a:p>
            <a:pPr marL="155575" indent="0">
              <a:buNone/>
            </a:pPr>
            <a:endParaRPr lang="en-US" sz="1200" b="1" dirty="0"/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920436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00" y="445025"/>
            <a:ext cx="5912356" cy="941400"/>
          </a:xfrm>
        </p:spPr>
        <p:txBody>
          <a:bodyPr/>
          <a:lstStyle/>
          <a:p>
            <a:r>
              <a:rPr lang="en-IN" dirty="0"/>
              <a:t>IMPLEMENTATION REQUIREMENTS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5575" indent="0">
              <a:buNone/>
            </a:pPr>
            <a:endParaRPr lang="en-US" sz="1200" b="1" dirty="0"/>
          </a:p>
          <a:p>
            <a:pPr marL="155575" indent="0">
              <a:buNone/>
            </a:pPr>
            <a:r>
              <a:rPr lang="en-US" sz="1200" b="1" dirty="0"/>
              <a:t>Software Requirements:</a:t>
            </a:r>
          </a:p>
          <a:p>
            <a:pPr marL="155575" indent="0">
              <a:buNone/>
            </a:pPr>
            <a:endParaRPr lang="en-US" sz="1200" b="1" dirty="0"/>
          </a:p>
          <a:p>
            <a:r>
              <a:rPr lang="en-US" sz="1200" dirty="0"/>
              <a:t>Frontend Framework: Our Frontend will be made using </a:t>
            </a:r>
            <a:r>
              <a:rPr lang="en-US" sz="1200" b="1" dirty="0" err="1" smtClean="0">
                <a:solidFill>
                  <a:srgbClr val="FFFF00"/>
                </a:solidFill>
              </a:rPr>
              <a:t>Reactjs</a:t>
            </a:r>
            <a:r>
              <a:rPr lang="en-US" sz="1200" dirty="0" smtClean="0">
                <a:solidFill>
                  <a:srgbClr val="FFFF00"/>
                </a:solidFill>
              </a:rPr>
              <a:t> </a:t>
            </a:r>
            <a:r>
              <a:rPr lang="en-US" sz="1200" dirty="0"/>
              <a:t>to create dynamic and responsive user interfaces that can adapt to different screen sizes and devices.</a:t>
            </a:r>
          </a:p>
          <a:p>
            <a:endParaRPr lang="en-US" sz="1200" dirty="0"/>
          </a:p>
          <a:p>
            <a:r>
              <a:rPr lang="en-US" sz="1200" dirty="0"/>
              <a:t>Backend Framework: Our backend logic will be made using </a:t>
            </a:r>
            <a:r>
              <a:rPr lang="en-US" sz="1200" b="1" dirty="0" err="1" smtClean="0">
                <a:solidFill>
                  <a:srgbClr val="FFFF00"/>
                </a:solidFill>
              </a:rPr>
              <a:t>Nodejs</a:t>
            </a:r>
            <a:r>
              <a:rPr lang="en-US" sz="1200" b="1" dirty="0">
                <a:solidFill>
                  <a:srgbClr val="FFFF00"/>
                </a:solidFill>
              </a:rPr>
              <a:t>, </a:t>
            </a:r>
            <a:r>
              <a:rPr lang="en-US" sz="1200" b="1" dirty="0" err="1" smtClean="0">
                <a:solidFill>
                  <a:srgbClr val="FFFF00"/>
                </a:solidFill>
              </a:rPr>
              <a:t>Expressjs</a:t>
            </a:r>
            <a:r>
              <a:rPr lang="en-US" sz="1200" dirty="0"/>
              <a:t>, and </a:t>
            </a:r>
            <a:r>
              <a:rPr lang="en-US" sz="1200" b="1" dirty="0">
                <a:solidFill>
                  <a:srgbClr val="FFFF00"/>
                </a:solidFill>
              </a:rPr>
              <a:t>MongoDB</a:t>
            </a:r>
            <a:r>
              <a:rPr lang="en-US" sz="1200" dirty="0"/>
              <a:t> to build </a:t>
            </a:r>
            <a:r>
              <a:rPr lang="en-US" sz="1200" b="1" dirty="0">
                <a:solidFill>
                  <a:srgbClr val="FFFF00"/>
                </a:solidFill>
              </a:rPr>
              <a:t>a scalable and robust server-side architecture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Database Management: We will be </a:t>
            </a:r>
            <a:r>
              <a:rPr lang="en-US" sz="1200" b="1" dirty="0">
                <a:solidFill>
                  <a:srgbClr val="FFFF00"/>
                </a:solidFill>
              </a:rPr>
              <a:t>Utilizing MongoDB or a similar NoSQL </a:t>
            </a:r>
            <a:r>
              <a:rPr lang="en-US" sz="1200" dirty="0"/>
              <a:t>database for storing and managing </a:t>
            </a:r>
            <a:r>
              <a:rPr lang="en-US" sz="1200" b="1" dirty="0">
                <a:solidFill>
                  <a:srgbClr val="FFFF00"/>
                </a:solidFill>
              </a:rPr>
              <a:t>event data, user profiles, and other relevant information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155575" indent="0">
              <a:buNone/>
            </a:pPr>
            <a:r>
              <a:rPr lang="en-US" sz="1200" b="1" dirty="0"/>
              <a:t>Security Measures:</a:t>
            </a:r>
          </a:p>
          <a:p>
            <a:pPr marL="155575" indent="0">
              <a:buNone/>
            </a:pPr>
            <a:endParaRPr lang="en-US" sz="1200" b="1" dirty="0"/>
          </a:p>
          <a:p>
            <a:r>
              <a:rPr lang="en-US" sz="1200" dirty="0"/>
              <a:t>Data Encryption: By Implementing encryption protocols such as SSL/TLS we will take care of the security of data transmission between the client and server[on selected features], </a:t>
            </a:r>
            <a:r>
              <a:rPr lang="en-US" sz="1200" b="1" dirty="0">
                <a:solidFill>
                  <a:srgbClr val="FFFF00"/>
                </a:solidFill>
              </a:rPr>
              <a:t>safeguarding sensitive information from unauthorized access</a:t>
            </a:r>
            <a:r>
              <a:rPr lang="en-US" sz="1200" dirty="0"/>
              <a:t>.</a:t>
            </a:r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6045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00" y="445025"/>
            <a:ext cx="5912356" cy="941400"/>
          </a:xfrm>
        </p:spPr>
        <p:txBody>
          <a:bodyPr/>
          <a:lstStyle/>
          <a:p>
            <a:r>
              <a:rPr lang="en-US" dirty="0"/>
              <a:t>MORE ON IMPLEMENTATION REQUIREMENTS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500" y="1386425"/>
            <a:ext cx="7172100" cy="3536210"/>
          </a:xfrm>
        </p:spPr>
        <p:txBody>
          <a:bodyPr/>
          <a:lstStyle/>
          <a:p>
            <a:pPr marL="155575" indent="0">
              <a:buNone/>
            </a:pPr>
            <a:endParaRPr lang="en-US" sz="1800" b="1" dirty="0"/>
          </a:p>
          <a:p>
            <a:pPr marL="155575" indent="0">
              <a:buNone/>
            </a:pPr>
            <a:r>
              <a:rPr lang="en-US" sz="1800" b="1" dirty="0" smtClean="0"/>
              <a:t>Testing and Quality Assurance:</a:t>
            </a:r>
          </a:p>
          <a:p>
            <a:pPr marL="155575" indent="0">
              <a:buNone/>
            </a:pPr>
            <a:endParaRPr lang="en-US" sz="1200" b="1" dirty="0" smtClean="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ECECEC"/>
                </a:solidFill>
                <a:latin typeface="Montserrat" panose="020B0604020202020204" charset="0"/>
              </a:rPr>
              <a:t>Comprehensive </a:t>
            </a:r>
            <a:r>
              <a:rPr lang="en-US" sz="1200" dirty="0">
                <a:solidFill>
                  <a:srgbClr val="ECECEC"/>
                </a:solidFill>
                <a:latin typeface="Montserrat" panose="020B0604020202020204" charset="0"/>
              </a:rPr>
              <a:t>approach in </a:t>
            </a:r>
            <a:r>
              <a:rPr lang="en-US" sz="1200" b="1" dirty="0">
                <a:solidFill>
                  <a:srgbClr val="FFFF00"/>
                </a:solidFill>
                <a:latin typeface="Montserrat" panose="020B0604020202020204" charset="0"/>
              </a:rPr>
              <a:t>testing and quality assurance </a:t>
            </a:r>
            <a:r>
              <a:rPr lang="en-US" sz="1200" dirty="0">
                <a:solidFill>
                  <a:srgbClr val="ECECEC"/>
                </a:solidFill>
                <a:latin typeface="Montserrat" panose="020B0604020202020204" charset="0"/>
              </a:rPr>
              <a:t>to ensure reliability and </a:t>
            </a:r>
            <a:r>
              <a:rPr lang="en-US" sz="1200" dirty="0" smtClean="0">
                <a:solidFill>
                  <a:srgbClr val="ECECEC"/>
                </a:solidFill>
                <a:latin typeface="Montserrat" panose="020B0604020202020204" charset="0"/>
              </a:rPr>
              <a:t>functionality.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200" dirty="0" smtClean="0">
              <a:solidFill>
                <a:srgbClr val="ECECEC"/>
              </a:solidFill>
              <a:latin typeface="Montserrat" panose="020B060402020202020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ECECEC"/>
                </a:solidFill>
                <a:latin typeface="Montserrat" panose="020B0604020202020204" charset="0"/>
              </a:rPr>
              <a:t>Utilization </a:t>
            </a:r>
            <a:r>
              <a:rPr lang="en-US" sz="1200" dirty="0">
                <a:solidFill>
                  <a:srgbClr val="ECECEC"/>
                </a:solidFill>
                <a:latin typeface="Montserrat" panose="020B0604020202020204" charset="0"/>
              </a:rPr>
              <a:t>of latest testing methods and techniques to meticulously validate </a:t>
            </a:r>
            <a:r>
              <a:rPr lang="en-US" sz="1200" b="1" dirty="0">
                <a:solidFill>
                  <a:srgbClr val="FFFF00"/>
                </a:solidFill>
                <a:latin typeface="Montserrat" panose="020B0604020202020204" charset="0"/>
              </a:rPr>
              <a:t>individual components</a:t>
            </a:r>
            <a:r>
              <a:rPr lang="en-US" sz="1200" b="1" dirty="0" smtClean="0">
                <a:solidFill>
                  <a:srgbClr val="FFFF00"/>
                </a:solidFill>
                <a:latin typeface="Montserrat" panose="020B0604020202020204" charset="0"/>
              </a:rPr>
              <a:t>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ECECEC"/>
              </a:solidFill>
              <a:latin typeface="Montserrat" panose="020B060402020202020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CECEC"/>
                </a:solidFill>
                <a:latin typeface="Montserrat" panose="020B0604020202020204" charset="0"/>
              </a:rPr>
              <a:t>Aim to minimize </a:t>
            </a:r>
            <a:r>
              <a:rPr lang="en-US" sz="1200" b="1" dirty="0">
                <a:solidFill>
                  <a:srgbClr val="FFFF00"/>
                </a:solidFill>
                <a:latin typeface="Montserrat" panose="020B0604020202020204" charset="0"/>
              </a:rPr>
              <a:t>vulnerabilities</a:t>
            </a:r>
            <a:r>
              <a:rPr lang="en-US" sz="1200" dirty="0">
                <a:solidFill>
                  <a:srgbClr val="FFFF00"/>
                </a:solidFill>
                <a:latin typeface="Montserrat" panose="020B0604020202020204" charset="0"/>
              </a:rPr>
              <a:t> </a:t>
            </a:r>
            <a:r>
              <a:rPr lang="en-US" sz="1200" dirty="0">
                <a:solidFill>
                  <a:srgbClr val="ECECEC"/>
                </a:solidFill>
                <a:latin typeface="Montserrat" panose="020B0604020202020204" charset="0"/>
              </a:rPr>
              <a:t>that could potentially </a:t>
            </a:r>
            <a:r>
              <a:rPr lang="en-US" sz="1200" b="1" dirty="0">
                <a:solidFill>
                  <a:srgbClr val="FFFF00"/>
                </a:solidFill>
                <a:latin typeface="Montserrat" panose="020B0604020202020204" charset="0"/>
              </a:rPr>
              <a:t>affect users or the overall system</a:t>
            </a:r>
            <a:r>
              <a:rPr lang="en-US" sz="1200" dirty="0" smtClean="0">
                <a:solidFill>
                  <a:srgbClr val="ECECEC"/>
                </a:solidFill>
                <a:latin typeface="Montserrat" panose="020B0604020202020204" charset="0"/>
              </a:rPr>
              <a:t>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200" dirty="0" smtClean="0">
              <a:solidFill>
                <a:srgbClr val="ECECEC"/>
              </a:solidFill>
              <a:latin typeface="Montserrat" panose="020B060402020202020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ECECEC"/>
                </a:solidFill>
                <a:latin typeface="Montserrat" panose="020B0604020202020204" charset="0"/>
              </a:rPr>
              <a:t>Dedication </a:t>
            </a:r>
            <a:r>
              <a:rPr lang="en-US" sz="1200" dirty="0">
                <a:solidFill>
                  <a:srgbClr val="ECECEC"/>
                </a:solidFill>
                <a:latin typeface="Montserrat" panose="020B0604020202020204" charset="0"/>
              </a:rPr>
              <a:t>to ensuring the </a:t>
            </a:r>
            <a:r>
              <a:rPr lang="en-US" sz="1200" b="1" dirty="0">
                <a:solidFill>
                  <a:srgbClr val="FFFF00"/>
                </a:solidFill>
                <a:latin typeface="Montserrat" panose="020B0604020202020204" charset="0"/>
              </a:rPr>
              <a:t>highest level of security </a:t>
            </a:r>
            <a:r>
              <a:rPr lang="en-US" sz="1200" dirty="0">
                <a:solidFill>
                  <a:srgbClr val="ECECEC"/>
                </a:solidFill>
                <a:latin typeface="Montserrat" panose="020B0604020202020204" charset="0"/>
              </a:rPr>
              <a:t>and performance for the "</a:t>
            </a:r>
            <a:r>
              <a:rPr lang="en-US" sz="1200" dirty="0" err="1">
                <a:solidFill>
                  <a:srgbClr val="ECECEC"/>
                </a:solidFill>
                <a:latin typeface="Montserrat" panose="020B0604020202020204" charset="0"/>
              </a:rPr>
              <a:t>KumbhNavigate</a:t>
            </a:r>
            <a:r>
              <a:rPr lang="en-US" sz="1200" dirty="0">
                <a:solidFill>
                  <a:srgbClr val="ECECEC"/>
                </a:solidFill>
                <a:latin typeface="Montserrat" panose="020B0604020202020204" charset="0"/>
              </a:rPr>
              <a:t>" platform</a:t>
            </a:r>
            <a:r>
              <a:rPr lang="en-US" sz="1200" dirty="0" smtClean="0">
                <a:solidFill>
                  <a:srgbClr val="ECECEC"/>
                </a:solidFill>
                <a:latin typeface="Montserrat" panose="020B0604020202020204" charset="0"/>
              </a:rPr>
              <a:t>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Montserrat" panose="020B060402020202020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bg1"/>
                </a:solidFill>
                <a:latin typeface="Montserrat" panose="020B0604020202020204" charset="0"/>
              </a:rPr>
              <a:t>Although we don’t be asking anything except basic details – Name and number we will still take care of the </a:t>
            </a:r>
            <a:r>
              <a:rPr lang="en-US" sz="1200" b="1" dirty="0" smtClean="0">
                <a:solidFill>
                  <a:srgbClr val="FFFF00"/>
                </a:solidFill>
                <a:latin typeface="Montserrat" panose="020B0604020202020204" charset="0"/>
              </a:rPr>
              <a:t>data security</a:t>
            </a:r>
            <a:r>
              <a:rPr lang="en-US" sz="1200" b="1" dirty="0" smtClean="0">
                <a:solidFill>
                  <a:schemeClr val="bg1"/>
                </a:solidFill>
                <a:latin typeface="Montserrat" panose="020B0604020202020204" charset="0"/>
              </a:rPr>
              <a:t>.</a:t>
            </a:r>
            <a:endParaRPr lang="en-US" sz="12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155575" indent="0">
              <a:buNone/>
            </a:pPr>
            <a:endParaRPr lang="en-US" sz="1800" b="1" dirty="0"/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753319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00" y="445025"/>
            <a:ext cx="5912356" cy="941400"/>
          </a:xfrm>
        </p:spPr>
        <p:txBody>
          <a:bodyPr/>
          <a:lstStyle/>
          <a:p>
            <a:r>
              <a:rPr lang="en-US" dirty="0"/>
              <a:t>COST OF IMPLEMENTATION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5575" indent="0">
              <a:buNone/>
            </a:pPr>
            <a:r>
              <a:rPr lang="en-US" sz="1200" b="1" dirty="0">
                <a:solidFill>
                  <a:srgbClr val="FFFF00"/>
                </a:solidFill>
              </a:rPr>
              <a:t>The “</a:t>
            </a:r>
            <a:r>
              <a:rPr lang="en-US" sz="1200" b="1" dirty="0" err="1">
                <a:solidFill>
                  <a:srgbClr val="FFFF00"/>
                </a:solidFill>
              </a:rPr>
              <a:t>kumbhNavigate</a:t>
            </a:r>
            <a:r>
              <a:rPr lang="en-US" sz="1200" b="1" dirty="0">
                <a:solidFill>
                  <a:srgbClr val="FFFF00"/>
                </a:solidFill>
              </a:rPr>
              <a:t>” is absolutely free for every users with no cost at all </a:t>
            </a:r>
          </a:p>
          <a:p>
            <a:pPr marL="155575" indent="0">
              <a:buNone/>
            </a:pPr>
            <a:endParaRPr lang="en-US" sz="1200" b="1" dirty="0"/>
          </a:p>
          <a:p>
            <a:pPr marL="155575" indent="0">
              <a:buNone/>
            </a:pPr>
            <a:r>
              <a:rPr lang="en-US" sz="1200" dirty="0"/>
              <a:t>Implementing the "</a:t>
            </a:r>
            <a:r>
              <a:rPr lang="en-US" sz="1200" dirty="0" err="1"/>
              <a:t>KumbhNavigate</a:t>
            </a:r>
            <a:r>
              <a:rPr lang="en-US" sz="1200" dirty="0"/>
              <a:t>" project involves various costs associated with development, infrastructure, deployment, maintenance, and support. The breakdown of costs includes:</a:t>
            </a:r>
          </a:p>
          <a:p>
            <a:pPr marL="155575" indent="0">
              <a:buNone/>
            </a:pPr>
            <a:endParaRPr lang="en-US" sz="1200" dirty="0"/>
          </a:p>
          <a:p>
            <a:r>
              <a:rPr lang="en-US" sz="1200" dirty="0"/>
              <a:t>Development Costs: This encompasses expenses related to software development tools, </a:t>
            </a:r>
            <a:r>
              <a:rPr lang="en-US" sz="1200" b="1" dirty="0">
                <a:solidFill>
                  <a:srgbClr val="FFFF00"/>
                </a:solidFill>
              </a:rPr>
              <a:t>licenses</a:t>
            </a:r>
            <a:r>
              <a:rPr lang="en-US" sz="1200" dirty="0"/>
              <a:t>, and </a:t>
            </a:r>
            <a:r>
              <a:rPr lang="en-US" sz="1200" b="1" dirty="0">
                <a:solidFill>
                  <a:srgbClr val="FFFF00"/>
                </a:solidFill>
              </a:rPr>
              <a:t>resources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n-US" sz="1200" dirty="0"/>
              <a:t>required for frontend and backend development, as well as any third-party services or </a:t>
            </a:r>
            <a:r>
              <a:rPr lang="en-US" sz="1200" b="1" dirty="0">
                <a:solidFill>
                  <a:srgbClr val="FFFF00"/>
                </a:solidFill>
              </a:rPr>
              <a:t>APIs utilized in the project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Infrastructure Costs: </a:t>
            </a:r>
            <a:r>
              <a:rPr lang="en-US" sz="1200" b="1" dirty="0">
                <a:solidFill>
                  <a:srgbClr val="FFFF00"/>
                </a:solidFill>
              </a:rPr>
              <a:t>Cloud hosting fees</a:t>
            </a:r>
            <a:r>
              <a:rPr lang="en-US" sz="1200" dirty="0"/>
              <a:t>, database </a:t>
            </a:r>
            <a:r>
              <a:rPr lang="en-US" sz="1200" b="1" dirty="0">
                <a:solidFill>
                  <a:srgbClr val="FFFF00"/>
                </a:solidFill>
              </a:rPr>
              <a:t>storage costs</a:t>
            </a:r>
            <a:r>
              <a:rPr lang="en-US" sz="1200" dirty="0"/>
              <a:t>, and other infrastructure-related expenses are essential components of the implementation cost.</a:t>
            </a:r>
          </a:p>
          <a:p>
            <a:endParaRPr lang="en-US" sz="1200" dirty="0"/>
          </a:p>
          <a:p>
            <a:r>
              <a:rPr lang="en-US" sz="1200" dirty="0"/>
              <a:t>Deployment Costs: Costs associated with setting up </a:t>
            </a:r>
            <a:r>
              <a:rPr lang="en-US" sz="1200" b="1" dirty="0">
                <a:solidFill>
                  <a:srgbClr val="FFFF00"/>
                </a:solidFill>
              </a:rPr>
              <a:t>CI/CD pipelines</a:t>
            </a:r>
            <a:r>
              <a:rPr lang="en-US" sz="1200" dirty="0"/>
              <a:t>, deployment tools, and any necessary hardware or software configurations for the live environment.</a:t>
            </a:r>
          </a:p>
          <a:p>
            <a:pPr marL="155575" indent="0">
              <a:buNone/>
            </a:pPr>
            <a:endParaRPr lang="en-US" sz="1200" b="1" dirty="0"/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846366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00" y="445025"/>
            <a:ext cx="5912356" cy="941400"/>
          </a:xfrm>
        </p:spPr>
        <p:txBody>
          <a:bodyPr/>
          <a:lstStyle/>
          <a:p>
            <a:r>
              <a:rPr lang="en-US" dirty="0"/>
              <a:t>DELIVERABLES COMMITMENT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Unwavering commitment to delivering a fully </a:t>
            </a:r>
            <a:r>
              <a:rPr lang="en-US" sz="1200" b="1" dirty="0">
                <a:solidFill>
                  <a:srgbClr val="FFFF00"/>
                </a:solidFill>
              </a:rPr>
              <a:t>functional prototype</a:t>
            </a:r>
            <a:r>
              <a:rPr lang="en-US" sz="1200" dirty="0"/>
              <a:t> for Round 2 demonstration</a:t>
            </a:r>
            <a:r>
              <a:rPr lang="en-US" sz="1200" dirty="0" smtClean="0"/>
              <a:t>. </a:t>
            </a:r>
          </a:p>
          <a:p>
            <a:pPr marL="155575" indent="0">
              <a:buNone/>
            </a:pPr>
            <a:endParaRPr lang="en-US" sz="1200" dirty="0"/>
          </a:p>
          <a:p>
            <a:r>
              <a:rPr lang="en-US" sz="1200" dirty="0"/>
              <a:t>Pledge to meticulously execute every aspect of the project plan with sincerity and dedication</a:t>
            </a:r>
            <a:r>
              <a:rPr lang="en-US" sz="1200" dirty="0" smtClean="0"/>
              <a:t>.</a:t>
            </a:r>
          </a:p>
          <a:p>
            <a:endParaRPr lang="en-US" sz="1200" dirty="0"/>
          </a:p>
          <a:p>
            <a:r>
              <a:rPr lang="en-US" sz="1200" dirty="0"/>
              <a:t>Promise to craft a prototype embodying innovation and excellence through relentless teamwork, testing, and refinement</a:t>
            </a:r>
            <a:r>
              <a:rPr lang="en-US" sz="1200" dirty="0" smtClean="0"/>
              <a:t>.</a:t>
            </a:r>
          </a:p>
          <a:p>
            <a:endParaRPr lang="en-US" sz="1200" dirty="0"/>
          </a:p>
          <a:p>
            <a:r>
              <a:rPr lang="en-US" sz="1200" dirty="0"/>
              <a:t>Team primed and poised to meet every milestone with </a:t>
            </a:r>
            <a:r>
              <a:rPr lang="en-US" sz="1200" b="1" dirty="0">
                <a:solidFill>
                  <a:srgbClr val="FFFF00"/>
                </a:solidFill>
              </a:rPr>
              <a:t>precision and diplomacy</a:t>
            </a:r>
            <a:r>
              <a:rPr lang="en-US" sz="1200" dirty="0" smtClean="0"/>
              <a:t>.</a:t>
            </a:r>
          </a:p>
          <a:p>
            <a:endParaRPr lang="en-US" sz="1200" dirty="0"/>
          </a:p>
          <a:p>
            <a:r>
              <a:rPr lang="en-US" sz="1200" dirty="0"/>
              <a:t>Dedication to ensuring a seamless and captivating demonstration showcasing the ingenuity of the "</a:t>
            </a:r>
            <a:r>
              <a:rPr lang="en-US" sz="1200" dirty="0" err="1"/>
              <a:t>KumbhNavigate</a:t>
            </a:r>
            <a:r>
              <a:rPr lang="en-US" sz="1200" dirty="0"/>
              <a:t>" project</a:t>
            </a:r>
            <a:r>
              <a:rPr lang="en-US" sz="1200" dirty="0" smtClean="0"/>
              <a:t>.</a:t>
            </a:r>
          </a:p>
          <a:p>
            <a:endParaRPr lang="en-US" sz="1200" dirty="0"/>
          </a:p>
          <a:p>
            <a:r>
              <a:rPr lang="en-US" sz="1200" dirty="0"/>
              <a:t>Embrace the challenge with confidence and </a:t>
            </a:r>
            <a:r>
              <a:rPr lang="en-US" sz="1200" b="1" dirty="0">
                <a:solidFill>
                  <a:srgbClr val="FFFF00"/>
                </a:solidFill>
              </a:rPr>
              <a:t>determination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FFFF00"/>
                </a:solidFill>
              </a:rPr>
              <a:t>committed</a:t>
            </a:r>
            <a:r>
              <a:rPr lang="en-US" sz="1200" dirty="0"/>
              <a:t> to realizing the vision and leaving an indelible mark on the </a:t>
            </a:r>
            <a:r>
              <a:rPr lang="en-US" sz="1200" dirty="0" err="1"/>
              <a:t>Mahakumbh</a:t>
            </a:r>
            <a:r>
              <a:rPr lang="en-US" sz="1200" dirty="0"/>
              <a:t> </a:t>
            </a:r>
            <a:r>
              <a:rPr lang="en-US" sz="1200" dirty="0" err="1"/>
              <a:t>Hackathon</a:t>
            </a:r>
            <a:r>
              <a:rPr lang="en-US" sz="1200" dirty="0"/>
              <a:t> 2025.</a:t>
            </a:r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680248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DF01B9-4E5F-B48B-FDDB-CEAAF407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00" y="445025"/>
            <a:ext cx="5912356" cy="941400"/>
          </a:xfrm>
        </p:spPr>
        <p:txBody>
          <a:bodyPr/>
          <a:lstStyle/>
          <a:p>
            <a:r>
              <a:rPr lang="en-US" dirty="0"/>
              <a:t>IMPLEMENTATION OF PROJECT IN MAHAKUMBH 2025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DED20C-DED0-2D4D-5666-C39353044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r>
              <a:rPr lang="en-US" sz="1200" dirty="0"/>
              <a:t>Bringing the "</a:t>
            </a:r>
            <a:r>
              <a:rPr lang="en-US" sz="1200" b="1" dirty="0" err="1">
                <a:solidFill>
                  <a:srgbClr val="FFFF00"/>
                </a:solidFill>
              </a:rPr>
              <a:t>KumbhNavigate</a:t>
            </a:r>
            <a:r>
              <a:rPr lang="en-US" sz="1200" dirty="0"/>
              <a:t>" project to life at </a:t>
            </a:r>
            <a:r>
              <a:rPr lang="en-US" sz="1200" dirty="0" err="1"/>
              <a:t>Mahakumbh</a:t>
            </a:r>
            <a:r>
              <a:rPr lang="en-US" sz="1200" dirty="0"/>
              <a:t> 2025 is not just a dream but an </a:t>
            </a:r>
            <a:r>
              <a:rPr lang="en-US" sz="1200" b="1" dirty="0">
                <a:solidFill>
                  <a:srgbClr val="FFFF00"/>
                </a:solidFill>
              </a:rPr>
              <a:t>imminent reality</a:t>
            </a:r>
            <a:r>
              <a:rPr lang="en-US" sz="1200" dirty="0"/>
              <a:t>. With meticulous planning, robust infrastructure, and a dedicated team, we're poised to revolutionize the </a:t>
            </a:r>
            <a:r>
              <a:rPr lang="en-US" sz="1200" dirty="0" err="1"/>
              <a:t>Mahakumbh</a:t>
            </a:r>
            <a:r>
              <a:rPr lang="en-US" sz="1200" dirty="0"/>
              <a:t> experience. Our solution seamlessly integrates into the Mela, </a:t>
            </a:r>
            <a:r>
              <a:rPr lang="en-US" sz="1200" b="1" dirty="0">
                <a:solidFill>
                  <a:srgbClr val="FFFF00"/>
                </a:solidFill>
              </a:rPr>
              <a:t>enhancing engagement and optimizing logistics</a:t>
            </a:r>
            <a:r>
              <a:rPr lang="en-US" sz="1200" dirty="0"/>
              <a:t>. With </a:t>
            </a:r>
            <a:r>
              <a:rPr lang="en-US" sz="1200" b="1" dirty="0">
                <a:solidFill>
                  <a:srgbClr val="FFFF00"/>
                </a:solidFill>
              </a:rPr>
              <a:t>government </a:t>
            </a:r>
            <a:r>
              <a:rPr lang="en-US" sz="1200" b="1" dirty="0" smtClean="0">
                <a:solidFill>
                  <a:srgbClr val="FFFF00"/>
                </a:solidFill>
              </a:rPr>
              <a:t>support </a:t>
            </a:r>
            <a:r>
              <a:rPr lang="en-US" sz="1200" dirty="0" smtClean="0"/>
              <a:t>we </a:t>
            </a:r>
            <a:r>
              <a:rPr lang="en-US" sz="1200" dirty="0"/>
              <a:t>navigate challenges effortlessly, ensuring a seamless journey from concept to reality. Together, we redefine the </a:t>
            </a:r>
            <a:r>
              <a:rPr lang="en-US" sz="1200" dirty="0" err="1"/>
              <a:t>Mahakumbh</a:t>
            </a:r>
            <a:r>
              <a:rPr lang="en-US" sz="1200" dirty="0"/>
              <a:t> narrative with innovation and unwavering commitment.</a:t>
            </a:r>
          </a:p>
          <a:p>
            <a:endParaRPr lang="en-US" sz="1200" dirty="0"/>
          </a:p>
          <a:p>
            <a:r>
              <a:rPr lang="en-US" sz="1200" dirty="0"/>
              <a:t>Moreover, if entrusted with government patronage, our project </a:t>
            </a:r>
            <a:r>
              <a:rPr lang="en-US" sz="1200" b="1" dirty="0">
                <a:solidFill>
                  <a:srgbClr val="FFFF00"/>
                </a:solidFill>
              </a:rPr>
              <a:t>epitomizes feasibility and practicality</a:t>
            </a:r>
            <a:r>
              <a:rPr lang="en-US" sz="1200" dirty="0"/>
              <a:t> in its very essence. Harnessing cutting-edge technologies and time-tested methodologies, we possess the agility to adapt our solution to the grandeur of </a:t>
            </a:r>
            <a:r>
              <a:rPr lang="en-US" sz="1200" dirty="0" err="1"/>
              <a:t>Mahakumbh</a:t>
            </a:r>
            <a:r>
              <a:rPr lang="en-US" sz="1200" dirty="0"/>
              <a:t>. With governmental collaboration, we transcend regulatory barriers and logistical intricacies, ensuring a seamless journey from </a:t>
            </a:r>
            <a:r>
              <a:rPr lang="en-US" sz="1200" b="1" dirty="0">
                <a:solidFill>
                  <a:srgbClr val="FFFF00"/>
                </a:solidFill>
              </a:rPr>
              <a:t>concept to implementation</a:t>
            </a:r>
            <a:r>
              <a:rPr lang="en-US" sz="1200" dirty="0"/>
              <a:t>.</a:t>
            </a:r>
          </a:p>
        </p:txBody>
      </p:sp>
      <p:cxnSp>
        <p:nvCxnSpPr>
          <p:cNvPr id="6" name="Google Shape;172;p39">
            <a:extLst>
              <a:ext uri="{FF2B5EF4-FFF2-40B4-BE49-F238E27FC236}">
                <a16:creationId xmlns:a16="http://schemas.microsoft.com/office/drawing/2014/main" xmlns="" id="{790874B2-3373-BB0E-EF47-EE9048B5628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110145030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3EDDDD"/>
      </a:dk1>
      <a:lt1>
        <a:srgbClr val="FFFFFF"/>
      </a:lt1>
      <a:dk2>
        <a:srgbClr val="C6FCFF"/>
      </a:dk2>
      <a:lt2>
        <a:srgbClr val="6BECF3"/>
      </a:lt2>
      <a:accent1>
        <a:srgbClr val="22DEEE"/>
      </a:accent1>
      <a:accent2>
        <a:srgbClr val="C6FCFF"/>
      </a:accent2>
      <a:accent3>
        <a:srgbClr val="81EBEB"/>
      </a:accent3>
      <a:accent4>
        <a:srgbClr val="038B99"/>
      </a:accent4>
      <a:accent5>
        <a:srgbClr val="40B6B6"/>
      </a:accent5>
      <a:accent6>
        <a:srgbClr val="09818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1670</Words>
  <Application>Microsoft Office PowerPoint</Application>
  <PresentationFormat>On-screen Show (16:9)</PresentationFormat>
  <Paragraphs>150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Montserrat ExtraBold</vt:lpstr>
      <vt:lpstr>Montserrat</vt:lpstr>
      <vt:lpstr>Montserrat ExtraLight</vt:lpstr>
      <vt:lpstr>Arial</vt:lpstr>
      <vt:lpstr>Futuristic Background by Slidesgo</vt:lpstr>
      <vt:lpstr>MAHAKUMBH</vt:lpstr>
      <vt:lpstr>KumbhNavigate – Seamlessly navigate the Mahakumbh Mela.</vt:lpstr>
      <vt:lpstr>OBJECTVE</vt:lpstr>
      <vt:lpstr>KEY FEATURES </vt:lpstr>
      <vt:lpstr>Methodology</vt:lpstr>
      <vt:lpstr>EXPANDING ON METHODOLOGY</vt:lpstr>
      <vt:lpstr>EXPANDING ON METHODOLOGY</vt:lpstr>
      <vt:lpstr>POSSIBILITY OF IMPLEMENTATION CONSIDERING THE MASSIVE CROWD</vt:lpstr>
      <vt:lpstr>EXPERTISE WITH TEAM</vt:lpstr>
      <vt:lpstr>IMPLEMENTATION REQUIREMENTS</vt:lpstr>
      <vt:lpstr>IMPLEMENTATION REQUIREMENTS CONTINUED</vt:lpstr>
      <vt:lpstr>MORE ON IMPLEMENTATION REQUIREMENTS</vt:lpstr>
      <vt:lpstr>COST OF IMPLEMENTATION</vt:lpstr>
      <vt:lpstr>DELIVERABLES COMMITMENT</vt:lpstr>
      <vt:lpstr>IMPLEMENTATION OF PROJECT IN MAHAKUMBH 2025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MAHAKUMBH</dc:title>
  <dc:creator>KASHISH</dc:creator>
  <cp:lastModifiedBy>Microsoft account</cp:lastModifiedBy>
  <cp:revision>23</cp:revision>
  <dcterms:modified xsi:type="dcterms:W3CDTF">2024-03-05T16:13:17Z</dcterms:modified>
</cp:coreProperties>
</file>